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69" r:id="rId3"/>
    <p:sldId id="257" r:id="rId4"/>
    <p:sldId id="274" r:id="rId5"/>
    <p:sldId id="275" r:id="rId6"/>
    <p:sldId id="273" r:id="rId7"/>
    <p:sldId id="272" r:id="rId8"/>
    <p:sldId id="276" r:id="rId9"/>
    <p:sldId id="271" r:id="rId10"/>
    <p:sldId id="277" r:id="rId11"/>
    <p:sldId id="268" r:id="rId12"/>
    <p:sldId id="270" r:id="rId13"/>
    <p:sldId id="265" r:id="rId14"/>
    <p:sldId id="266" r:id="rId1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5FAF81A-19CA-48C3-A1E0-6AF1AF0EF3A3}" v="47" dt="2025-08-19T16:51:46.407"/>
  </p1510:revLst>
</p1510:revInfo>
</file>

<file path=ppt/tableStyles.xml><?xml version="1.0" encoding="utf-8"?>
<a:tblStyleLst xmlns:a="http://schemas.openxmlformats.org/drawingml/2006/main" def="{90651C3A-4460-11DB-9652-00E08161165F}">
  <a:tblStyle styleId="{57690726-49DA-4552-BDEB-330DD8EA8BD9}" styleName="Table_0">
    <a:wholeTbl>
      <a:tcTxStyle b="off" i="off"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87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2169620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14080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52911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32441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939560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48305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436789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942109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67165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155935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124313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84359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2" name="Google Shape;52;p7" descr="C:\Users\AMMU\Desktop\Borde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3">
            <a:alphaModFix/>
          </a:blip>
          <a:srcRect b="18046"/>
          <a:stretch/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ppidihemanth/Capstone-Project.git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790469" y="1069102"/>
            <a:ext cx="10363200" cy="962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IN" sz="2400" dirty="0"/>
              <a:t>Mobile App for Direct Market Access for Farmers</a:t>
            </a:r>
            <a:endParaRPr sz="2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790468" y="2045352"/>
            <a:ext cx="4391131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r>
              <a:rPr lang="en-GB" sz="1800" dirty="0">
                <a:latin typeface="Cambria" panose="02040503050406030204" pitchFamily="18" charset="0"/>
                <a:ea typeface="Cambria" panose="02040503050406030204" pitchFamily="18" charset="0"/>
              </a:rPr>
              <a:t>Batch Number: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6480195" y="2513340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IN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Mohammad Buran Basha</a:t>
            </a: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Dr./Mr./Ms./Prof.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Professor / Associate Professor / Assistant Professor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School of Computer Science and Engineering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graphicFrame>
        <p:nvGraphicFramePr>
          <p:cNvPr id="89" name="Google Shape;89;p13"/>
          <p:cNvGraphicFramePr/>
          <p:nvPr>
            <p:extLst>
              <p:ext uri="{D42A27DB-BD31-4B8C-83A1-F6EECF244321}">
                <p14:modId xmlns:p14="http://schemas.microsoft.com/office/powerpoint/2010/main" val="1568928197"/>
              </p:ext>
            </p:extLst>
          </p:nvPr>
        </p:nvGraphicFramePr>
        <p:xfrm>
          <a:off x="553347" y="2721840"/>
          <a:ext cx="5418675" cy="2194620"/>
        </p:xfrm>
        <a:graphic>
          <a:graphicData uri="http://schemas.openxmlformats.org/drawingml/2006/table">
            <a:tbl>
              <a:tblPr firstRow="1" bandRow="1">
                <a:noFill/>
                <a:tableStyleId>{57690726-49DA-4552-BDEB-330DD8EA8BD9}</a:tableStyleId>
              </a:tblPr>
              <a:tblGrid>
                <a:gridCol w="208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6243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Roll Number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Student Name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IN" sz="1800" u="none" strike="noStrike" cap="none" dirty="0"/>
                        <a:t>20221CIT0089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 err="1"/>
                        <a:t>Sappidi</a:t>
                      </a:r>
                      <a:r>
                        <a:rPr lang="en-IN" sz="1800" u="none" strike="noStrike" cap="none" dirty="0"/>
                        <a:t> Hemanth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/>
                        <a:t>20221CIT0090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/>
                        <a:t>Vasikeri Praneeth Sai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/>
                        <a:t>20221CIT0063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/>
                        <a:t>Talari Vijay Kumar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1" name="Google Shape;91;p13"/>
          <p:cNvSpPr txBox="1"/>
          <p:nvPr/>
        </p:nvSpPr>
        <p:spPr>
          <a:xfrm>
            <a:off x="2832225" y="136441"/>
            <a:ext cx="5498973" cy="72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CSE7101-</a:t>
            </a: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Capstone Project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1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Review-1</a:t>
            </a:r>
            <a:endParaRPr sz="18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0" y="4533900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B.TECH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</a:t>
            </a:r>
            <a:r>
              <a:rPr lang="en-IN" sz="1800" b="1" dirty="0"/>
              <a:t>Dr. Anandaraj S.P </a:t>
            </a:r>
            <a:endParaRPr lang="en-US" sz="1800" b="1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Project Coordinator: </a:t>
            </a:r>
            <a:r>
              <a:rPr lang="en-IN" sz="1800" b="1" dirty="0"/>
              <a:t>Dr. </a:t>
            </a:r>
            <a:r>
              <a:rPr lang="en-IN" sz="1800" b="1" dirty="0" err="1"/>
              <a:t>Sharmasth</a:t>
            </a:r>
            <a:r>
              <a:rPr lang="en-IN" sz="1800" b="1" dirty="0"/>
              <a:t> Vali</a:t>
            </a:r>
            <a:endParaRPr lang="en-US" sz="1800" b="1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Project Coordinators: 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Sampath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A K , Dr.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Geetha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A </a:t>
            </a:r>
            <a:endParaRPr sz="18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Problem Statement Number: 281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>
              <a:spcBef>
                <a:spcPts val="0"/>
              </a:spcBef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Organization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: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Ministry of Agriculture and Farmers Welfare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Category (Hardware / Software / Both)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:Software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Problem Description:</a:t>
            </a:r>
          </a:p>
          <a:p>
            <a:pPr marL="342900" lvl="0" indent="-190500" algn="just">
              <a:lnSpc>
                <a:spcPct val="170000"/>
              </a:lnSpc>
              <a:spcBef>
                <a:spcPts val="0"/>
              </a:spcBef>
              <a:buNone/>
            </a:pPr>
            <a:r>
              <a:rPr lang="en-US" sz="1900" dirty="0">
                <a:latin typeface="Cambria" panose="02040503050406030204" pitchFamily="18" charset="0"/>
                <a:ea typeface="Cambria" panose="02040503050406030204" pitchFamily="18" charset="0"/>
              </a:rPr>
              <a:t> 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Farmers often face challenges in accessing markets, leading to lower income due to middlemen. This gap restricts their ability to sell produce at fair prices. Creating a mobile application that connects farmers directly with consumers and retailers. This app include features for listing produce, negotiating prices, and managing transactions, thereby reducing dependence on intermediaries. </a:t>
            </a:r>
          </a:p>
        </p:txBody>
      </p:sp>
    </p:spTree>
    <p:extLst>
      <p:ext uri="{BB962C8B-B14F-4D97-AF65-F5344CB8AC3E}">
        <p14:creationId xmlns:p14="http://schemas.microsoft.com/office/powerpoint/2010/main" val="21434518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655782" y="1466273"/>
            <a:ext cx="10668000" cy="3924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55000" lnSpcReduction="20000"/>
          </a:bodyPr>
          <a:lstStyle/>
          <a:p>
            <a:pPr marL="609600" indent="-4572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3200" dirty="0">
                <a:latin typeface="Cambria" panose="02040503050406030204" pitchFamily="18" charset="0"/>
                <a:ea typeface="Cambria" panose="02040503050406030204" pitchFamily="18" charset="0"/>
              </a:rPr>
              <a:t>Objectives</a:t>
            </a:r>
          </a:p>
          <a:p>
            <a:pPr marL="609600" indent="-4572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3200" dirty="0">
                <a:latin typeface="Cambria" panose="02040503050406030204" pitchFamily="18" charset="0"/>
                <a:ea typeface="Cambria" panose="02040503050406030204" pitchFamily="18" charset="0"/>
              </a:rPr>
              <a:t>Background and Related work for title Selection</a:t>
            </a:r>
          </a:p>
          <a:p>
            <a:pPr marL="609600" lvl="0" indent="-4572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3200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</a:t>
            </a:r>
          </a:p>
          <a:p>
            <a:pPr marL="609600" lvl="0" indent="-4572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3200" dirty="0">
                <a:latin typeface="Cambria" panose="02040503050406030204" pitchFamily="18" charset="0"/>
                <a:ea typeface="Cambria" panose="02040503050406030204" pitchFamily="18" charset="0"/>
              </a:rPr>
              <a:t>Innovation or Novel Contributions</a:t>
            </a:r>
          </a:p>
          <a:p>
            <a:pPr marL="609600" indent="-4572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3200" dirty="0" err="1">
                <a:latin typeface="Cambria" panose="02040503050406030204" pitchFamily="18" charset="0"/>
                <a:ea typeface="Cambria" panose="02040503050406030204" pitchFamily="18" charset="0"/>
              </a:rPr>
              <a:t>Git</a:t>
            </a:r>
            <a:r>
              <a:rPr lang="en-US" sz="3200" dirty="0">
                <a:latin typeface="Cambria" panose="02040503050406030204" pitchFamily="18" charset="0"/>
                <a:ea typeface="Cambria" panose="02040503050406030204" pitchFamily="18" charset="0"/>
              </a:rPr>
              <a:t>-hub Link</a:t>
            </a:r>
          </a:p>
          <a:p>
            <a:pPr marL="609600" lvl="0" indent="-4572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r>
              <a:rPr lang="en-US" sz="3200" dirty="0">
                <a:latin typeface="Cambria" panose="02040503050406030204" pitchFamily="18" charset="0"/>
                <a:ea typeface="Cambria" panose="02040503050406030204" pitchFamily="18" charset="0"/>
              </a:rPr>
              <a:t>Timeline of the Project</a:t>
            </a:r>
          </a:p>
          <a:p>
            <a:pPr marL="609600" lvl="0" indent="-4572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r>
              <a:rPr lang="en-US" sz="3200" dirty="0">
                <a:latin typeface="Cambria" panose="02040503050406030204" pitchFamily="18" charset="0"/>
                <a:ea typeface="Cambria" panose="02040503050406030204" pitchFamily="18" charset="0"/>
              </a:rPr>
              <a:t>References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Objectives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655782" y="1026160"/>
            <a:ext cx="10668000" cy="4673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lvl="0" indent="-3429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To provide farmers a direct digital platform to sell their produce without middlemen.</a:t>
            </a:r>
          </a:p>
          <a:p>
            <a:pPr marL="495300" lvl="0" indent="-342900" algn="just"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To allow farmers to easily list crop details and connect with buyers instantly.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To support secure and quick digital payments through UPI or bank transfers.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To integrate simple logistics support so farmers can transport their produce easily.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To offer multi-language and voice-based features for rural accessibility.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79795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72553-FF0B-6DE5-906D-812FF1F04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Background and Related work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22E667-AE8F-A65E-DA4D-4B1CA8B982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Farmers often earn less due to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middlemen, low bargaining power, and lack of real-time price data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Existing platforms like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</a:rPr>
              <a:t>eNAM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 (Govt)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and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AgriBazaar (Private)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aim to help but face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low adoption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because of complex interfaces, limited coverage, and language barriers.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Other apps like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Kisan Suvidha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and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Mandi Trades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provide price information but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do not support direct farmer-to-buyer transactions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With the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rise of smartphones, UPI payments, and regional language demand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, there is a need for a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simple, all-in-one mobile app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The gap lies in building a solution that combines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produce listing, buyer-farmer communication, secure payments, logistics, and multilingual support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in a single platform</a:t>
            </a:r>
            <a:r>
              <a:rPr lang="en-US" sz="2000" dirty="0"/>
              <a:t>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3262431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938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Technology Stack Components:</a:t>
            </a:r>
          </a:p>
          <a:p>
            <a:pPr marL="76200" indent="0">
              <a:buNone/>
            </a:pP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1. Frontend: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Flutter (Dart):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Cross-platform framework for building Android &amp; iOS apps with a single codebase.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Material Design &amp; Widgets: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For responsive, user-friendly UI.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Multi-language Support: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Using Flutter localization for regional languages.</a:t>
            </a:r>
          </a:p>
          <a:p>
            <a:pPr marL="76200" indent="0">
              <a:buNone/>
            </a:pP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2. Backend: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Firebase Cloud Functions (Node.js):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Serverless backend to handle business logic.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REST APIs / </a:t>
            </a:r>
            <a:r>
              <a:rPr lang="en-IN" sz="2000" b="1" dirty="0" err="1">
                <a:latin typeface="Cambria" panose="02040503050406030204" pitchFamily="18" charset="0"/>
                <a:ea typeface="Cambria" panose="02040503050406030204" pitchFamily="18" charset="0"/>
              </a:rPr>
              <a:t>GraphQL</a:t>
            </a: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 :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For structured communication between frontend and backend.</a:t>
            </a:r>
          </a:p>
          <a:p>
            <a:pPr marL="76200" indent="0">
              <a:buNone/>
            </a:pPr>
            <a:r>
              <a:rPr lang="en-US" sz="2000" b="1" dirty="0"/>
              <a:t>3. Database</a:t>
            </a:r>
            <a:endParaRPr lang="en-US" sz="20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Firebase </a:t>
            </a:r>
            <a:r>
              <a:rPr lang="en-US" sz="2000" b="1" dirty="0" err="1">
                <a:latin typeface="Cambria" panose="02040503050406030204" pitchFamily="18" charset="0"/>
                <a:ea typeface="Cambria" panose="02040503050406030204" pitchFamily="18" charset="0"/>
              </a:rPr>
              <a:t>Firestore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 (NoSQL):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Real-time storage for users, produce listings, and transactions.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Cloud Storage: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For storing product images (crops/produce photos).</a:t>
            </a:r>
          </a:p>
          <a:p>
            <a:pPr marL="76200" indent="0">
              <a:buNone/>
            </a:pP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08161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(contd...)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76200" indent="0">
              <a:buNone/>
            </a:pP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4. Authentication &amp; Security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Firebase Authentication: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Email/Phone/Google login for farmers &amp; buyers.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JWT (JSON Web Tokens):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For secure session handling.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Role-based Access Control: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Differentiating farmer and buyer features.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Encryption (HTTPS, SSL):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To protect sensitive data.</a:t>
            </a:r>
          </a:p>
          <a:p>
            <a:pPr marL="76200" indent="0">
              <a:buNone/>
            </a:pP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5. Maps &amp; Location Services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Google Maps API / </a:t>
            </a:r>
            <a:r>
              <a:rPr lang="en-IN" sz="2000" b="1" dirty="0" err="1">
                <a:latin typeface="Cambria" panose="02040503050406030204" pitchFamily="18" charset="0"/>
                <a:ea typeface="Cambria" panose="02040503050406030204" pitchFamily="18" charset="0"/>
              </a:rPr>
              <a:t>Mapbox</a:t>
            </a: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For GPS tracking, showing nearby buyers/sellers.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Geofencing: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To alert farmers of demand within their region.</a:t>
            </a:r>
          </a:p>
          <a:p>
            <a:pPr marL="76200" indent="0">
              <a:buNone/>
            </a:pP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6. Payment Integration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b="1" dirty="0" err="1">
                <a:latin typeface="Cambria" panose="02040503050406030204" pitchFamily="18" charset="0"/>
                <a:ea typeface="Cambria" panose="02040503050406030204" pitchFamily="18" charset="0"/>
              </a:rPr>
              <a:t>Razorpay</a:t>
            </a: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 / Paytm / UPI / Stripe: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For instant and secure digital payments.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Payment Receipts &amp; History: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Stored securely in database for farmer records.</a:t>
            </a: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88325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7C0ED-ED39-0E25-ECCB-D44E98A1D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(contd...)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1338E0-50EE-DF46-BA78-D2954FCBB9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marL="76200" indent="0">
              <a:buNone/>
            </a:pPr>
            <a:r>
              <a:rPr lang="en-IN" sz="2600" b="1" dirty="0">
                <a:latin typeface="Cambria" panose="02040503050406030204" pitchFamily="18" charset="0"/>
                <a:ea typeface="Cambria" panose="02040503050406030204" pitchFamily="18" charset="0"/>
              </a:rPr>
              <a:t>7. Notifications &amp; Communication:</a:t>
            </a:r>
            <a:endParaRPr lang="en-IN" sz="2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sz="2200" b="1" dirty="0">
                <a:latin typeface="Cambria" panose="02040503050406030204" pitchFamily="18" charset="0"/>
                <a:ea typeface="Cambria" panose="02040503050406030204" pitchFamily="18" charset="0"/>
              </a:rPr>
              <a:t>Firebase Cloud Messaging (FCM):</a:t>
            </a:r>
            <a:r>
              <a:rPr lang="en-IN" sz="2200" dirty="0">
                <a:latin typeface="Cambria" panose="02040503050406030204" pitchFamily="18" charset="0"/>
                <a:ea typeface="Cambria" panose="02040503050406030204" pitchFamily="18" charset="0"/>
              </a:rPr>
              <a:t> Push notifications for offers, demand alerts, and payment confirmations.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200" b="1" dirty="0">
                <a:latin typeface="Cambria" panose="02040503050406030204" pitchFamily="18" charset="0"/>
                <a:ea typeface="Cambria" panose="02040503050406030204" pitchFamily="18" charset="0"/>
              </a:rPr>
              <a:t>In-app Chat / Messaging (Firebase Realtime DB):</a:t>
            </a:r>
            <a:r>
              <a:rPr lang="en-IN" sz="2200" dirty="0">
                <a:latin typeface="Cambria" panose="02040503050406030204" pitchFamily="18" charset="0"/>
                <a:ea typeface="Cambria" panose="02040503050406030204" pitchFamily="18" charset="0"/>
              </a:rPr>
              <a:t> For buyer-farmer communication.</a:t>
            </a:r>
          </a:p>
          <a:p>
            <a:pPr marL="76200" indent="0">
              <a:buNone/>
            </a:pPr>
            <a:r>
              <a:rPr lang="en-IN" sz="2600" b="1" dirty="0">
                <a:latin typeface="Cambria" panose="02040503050406030204" pitchFamily="18" charset="0"/>
                <a:ea typeface="Cambria" panose="02040503050406030204" pitchFamily="18" charset="0"/>
              </a:rPr>
              <a:t>8. Hosting &amp; Deployment:</a:t>
            </a:r>
            <a:endParaRPr lang="en-IN" sz="2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sz="2200" b="1" dirty="0">
                <a:latin typeface="Cambria" panose="02040503050406030204" pitchFamily="18" charset="0"/>
                <a:ea typeface="Cambria" panose="02040503050406030204" pitchFamily="18" charset="0"/>
              </a:rPr>
              <a:t>Firebase Hosting / Google Cloud Platform (GCP):</a:t>
            </a:r>
            <a:r>
              <a:rPr lang="en-IN" sz="2200" dirty="0">
                <a:latin typeface="Cambria" panose="02040503050406030204" pitchFamily="18" charset="0"/>
                <a:ea typeface="Cambria" panose="02040503050406030204" pitchFamily="18" charset="0"/>
              </a:rPr>
              <a:t> Hosting backend APIs and services.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200" b="1" dirty="0">
                <a:latin typeface="Cambria" panose="02040503050406030204" pitchFamily="18" charset="0"/>
                <a:ea typeface="Cambria" panose="02040503050406030204" pitchFamily="18" charset="0"/>
              </a:rPr>
              <a:t>Play Store &amp; App Store Deployment:</a:t>
            </a:r>
            <a:r>
              <a:rPr lang="en-IN" sz="2200" dirty="0">
                <a:latin typeface="Cambria" panose="02040503050406030204" pitchFamily="18" charset="0"/>
                <a:ea typeface="Cambria" panose="02040503050406030204" pitchFamily="18" charset="0"/>
              </a:rPr>
              <a:t> For Android and iOS release.</a:t>
            </a:r>
          </a:p>
          <a:p>
            <a:pPr marL="76200" indent="0">
              <a:buNone/>
            </a:pPr>
            <a:r>
              <a:rPr lang="en-IN" sz="2600" b="1" dirty="0">
                <a:latin typeface="Cambria" panose="02040503050406030204" pitchFamily="18" charset="0"/>
                <a:ea typeface="Cambria" panose="02040503050406030204" pitchFamily="18" charset="0"/>
              </a:rPr>
              <a:t>9. Version Control &amp; Collaboration:</a:t>
            </a:r>
            <a:endParaRPr lang="en-IN" sz="2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sz="2200" b="1" dirty="0">
                <a:latin typeface="Cambria" panose="02040503050406030204" pitchFamily="18" charset="0"/>
                <a:ea typeface="Cambria" panose="02040503050406030204" pitchFamily="18" charset="0"/>
              </a:rPr>
              <a:t>GitHub / GitLab:</a:t>
            </a:r>
            <a:r>
              <a:rPr lang="en-IN" sz="2200" dirty="0">
                <a:latin typeface="Cambria" panose="02040503050406030204" pitchFamily="18" charset="0"/>
                <a:ea typeface="Cambria" panose="02040503050406030204" pitchFamily="18" charset="0"/>
              </a:rPr>
              <a:t> For code management, issue tracking, and collaboration.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200" b="1" dirty="0">
                <a:latin typeface="Cambria" panose="02040503050406030204" pitchFamily="18" charset="0"/>
                <a:ea typeface="Cambria" panose="02040503050406030204" pitchFamily="18" charset="0"/>
              </a:rPr>
              <a:t>CI/CD (GitHub Actions):</a:t>
            </a:r>
            <a:r>
              <a:rPr lang="en-IN" sz="2200" dirty="0">
                <a:latin typeface="Cambria" panose="02040503050406030204" pitchFamily="18" charset="0"/>
                <a:ea typeface="Cambria" panose="02040503050406030204" pitchFamily="18" charset="0"/>
              </a:rPr>
              <a:t> For automated builds and deployments.</a:t>
            </a:r>
          </a:p>
          <a:p>
            <a:pPr marL="76200" indent="0">
              <a:buNone/>
            </a:pPr>
            <a:r>
              <a:rPr lang="en-US" sz="2600" b="1" dirty="0">
                <a:latin typeface="Cambria" panose="02040503050406030204" pitchFamily="18" charset="0"/>
                <a:ea typeface="Cambria" panose="02040503050406030204" pitchFamily="18" charset="0"/>
              </a:rPr>
              <a:t>10. Testing &amp; Debugging Tools</a:t>
            </a:r>
            <a:endParaRPr lang="en-US" sz="2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b="1" dirty="0">
                <a:latin typeface="Cambria" panose="02040503050406030204" pitchFamily="18" charset="0"/>
                <a:ea typeface="Cambria" panose="02040503050406030204" pitchFamily="18" charset="0"/>
              </a:rPr>
              <a:t>Postman:</a:t>
            </a: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 For API testing . </a:t>
            </a:r>
            <a:r>
              <a:rPr lang="en-US" sz="2200" b="1" dirty="0">
                <a:latin typeface="Cambria" panose="02040503050406030204" pitchFamily="18" charset="0"/>
                <a:ea typeface="Cambria" panose="02040503050406030204" pitchFamily="18" charset="0"/>
              </a:rPr>
              <a:t>Flutter Test / Integration Test:</a:t>
            </a: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 For unit and UI testing.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b="1" dirty="0">
                <a:latin typeface="Cambria" panose="02040503050406030204" pitchFamily="18" charset="0"/>
                <a:ea typeface="Cambria" panose="02040503050406030204" pitchFamily="18" charset="0"/>
              </a:rPr>
              <a:t>Firebase Test Lab:</a:t>
            </a: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 For testing app on multiple devices</a:t>
            </a:r>
          </a:p>
          <a:p>
            <a:pPr marL="7620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160914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(contd...)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76200" indent="0"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Current Challenges: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dirty="0"/>
              <a:t>Farmers depend on middlemen, leading to reduced income.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dirty="0"/>
              <a:t>Lack of real-time market prices and demand visibility.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dirty="0"/>
              <a:t>No direct and reliable communication channels with buyers.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dirty="0"/>
              <a:t>Difficulty in arranging transport and logistics.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dirty="0"/>
              <a:t>Low digital literacy and language barriers in rural areas</a:t>
            </a:r>
            <a:r>
              <a:rPr lang="en-US" dirty="0"/>
              <a:t>.</a:t>
            </a:r>
          </a:p>
          <a:p>
            <a:pPr marL="76200" indent="0"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Needs &amp; Expectations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A centralized mobile app for direct farmer-to-buyer sales.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Simple, multilingual interface for rural accessibility.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Real-time price updates and demand notifications.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Secure digital payments with instant receipts.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Integrated logistics support for transport and delivery.</a:t>
            </a: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04557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1793F-930E-075C-BDBD-0DD7F4592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(contd...)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F31917-B26A-909F-3875-0EBA3E7D67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76200" indent="0"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Expected Benefits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Fair prices and higher income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for farmers.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Transparency and trust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in agricultural trade.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Reduced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post-harvest losses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with quicker sales.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Empowered farmers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contributing to rural economic growth.</a:t>
            </a:r>
          </a:p>
          <a:p>
            <a:pPr marL="7620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554257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Github Link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115;p17"/>
          <p:cNvSpPr txBox="1">
            <a:spLocks/>
          </p:cNvSpPr>
          <p:nvPr/>
        </p:nvSpPr>
        <p:spPr>
          <a:xfrm>
            <a:off x="965200" y="12954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Google Shape;115;p17"/>
          <p:cNvSpPr txBox="1">
            <a:spLocks/>
          </p:cNvSpPr>
          <p:nvPr/>
        </p:nvSpPr>
        <p:spPr>
          <a:xfrm>
            <a:off x="558800" y="1339850"/>
            <a:ext cx="10668000" cy="41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The Github link provided should have public access permission.</a:t>
            </a: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hlinkClick r:id="rId3"/>
              </a:rPr>
              <a:t>GitHub Link</a:t>
            </a:r>
            <a:endParaRPr lang="en-US" b="1" dirty="0">
              <a:solidFill>
                <a:schemeClr val="accent2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63573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Timeline of the Project (Gantt Chart)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363200" cy="4739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0D4BD96-7FC7-ABBD-474A-68C4B98412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" y="1038574"/>
            <a:ext cx="9619499" cy="4948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8902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References (IEEE Paper format)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5" name="Google Shape;145;p22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152400" indent="0">
              <a:spcBef>
                <a:spcPts val="0"/>
              </a:spcBef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dirty="0"/>
              <a:t>[1] A. Singh, P. Sharma, and R. Kumar, “Digital platforms for agricultural marketing: A review,” </a:t>
            </a:r>
            <a:r>
              <a:rPr lang="en-IN" i="1" dirty="0"/>
              <a:t>IEEE Access</a:t>
            </a:r>
            <a:r>
              <a:rPr lang="en-IN" dirty="0"/>
              <a:t>, vol. 8, pp. 12345–12356, Jun. 2020.</a:t>
            </a:r>
          </a:p>
          <a:p>
            <a:r>
              <a:rPr lang="en-IN" dirty="0"/>
              <a:t>[2] R. Gupta and M. Jain, “Role of ICT in agricultural development and farmer empowerment,” </a:t>
            </a:r>
            <a:r>
              <a:rPr lang="en-IN" i="1" dirty="0"/>
              <a:t>IEEE Transactions on Emerging Topics in Computing</a:t>
            </a:r>
            <a:r>
              <a:rPr lang="en-IN" dirty="0"/>
              <a:t>, vol. 9, no. 2, pp. 678–685, Apr. 2021.</a:t>
            </a:r>
          </a:p>
          <a:p>
            <a:r>
              <a:rPr lang="en-IN" dirty="0"/>
              <a:t>[3] Government of India, “</a:t>
            </a:r>
            <a:r>
              <a:rPr lang="en-IN" dirty="0" err="1"/>
              <a:t>eNAM</a:t>
            </a:r>
            <a:r>
              <a:rPr lang="en-IN" dirty="0"/>
              <a:t> – National Agriculture Market,” Ministry of Agriculture &amp; Farmers’ Welfare. [Online]. Available: https://www.enam.gov.in. [Accessed: Aug. 18, 2025].</a:t>
            </a:r>
          </a:p>
          <a:p>
            <a:r>
              <a:rPr lang="en-IN" dirty="0"/>
              <a:t>[4] AgriBazaar, “Connecting Farmers and Buyers through </a:t>
            </a:r>
            <a:r>
              <a:rPr lang="en-IN" dirty="0" err="1"/>
              <a:t>AgriTech</a:t>
            </a:r>
            <a:r>
              <a:rPr lang="en-IN" dirty="0"/>
              <a:t>,” [Online]. Available: https://www.agribazaar.com. [Accessed: Aug. 18, 2025].</a:t>
            </a:r>
          </a:p>
          <a:p>
            <a:pPr marL="152400" indent="0">
              <a:spcBef>
                <a:spcPts val="0"/>
              </a:spcBef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indent="0">
              <a:spcBef>
                <a:spcPts val="0"/>
              </a:spcBef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indent="0">
              <a:spcBef>
                <a:spcPts val="0"/>
              </a:spcBef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3A00FF-89F0-DC87-D900-930227B33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1420</TotalTime>
  <Words>1130</Words>
  <Application>Microsoft Office PowerPoint</Application>
  <PresentationFormat>Widescreen</PresentationFormat>
  <Paragraphs>132</Paragraphs>
  <Slides>14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Cambria</vt:lpstr>
      <vt:lpstr>Verdana</vt:lpstr>
      <vt:lpstr>Wingdings</vt:lpstr>
      <vt:lpstr>Bioinformatics</vt:lpstr>
      <vt:lpstr>Mobile App for Direct Market Access for Farmers</vt:lpstr>
      <vt:lpstr>Problem Statement Number: 281</vt:lpstr>
      <vt:lpstr>Content</vt:lpstr>
      <vt:lpstr>Objectives</vt:lpstr>
      <vt:lpstr>Background and Related work</vt:lpstr>
      <vt:lpstr>Analysis of Problem Statement</vt:lpstr>
      <vt:lpstr>Analysis of Problem Statement (contd...)</vt:lpstr>
      <vt:lpstr>Analysis of Problem Statement (contd...)</vt:lpstr>
      <vt:lpstr>Analysis of Problem Statement (contd...)</vt:lpstr>
      <vt:lpstr>Analysis of Problem Statement (contd...)</vt:lpstr>
      <vt:lpstr>Github Link</vt:lpstr>
      <vt:lpstr>Timeline of the Project (Gantt Chart)</vt:lpstr>
      <vt:lpstr>References (IEEE Paper format)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vasikeri praneeth sai</cp:lastModifiedBy>
  <cp:revision>43</cp:revision>
  <dcterms:modified xsi:type="dcterms:W3CDTF">2025-11-30T04:53:09Z</dcterms:modified>
</cp:coreProperties>
</file>